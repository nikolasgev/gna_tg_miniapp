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Наименование учебного заведения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Код и название специальности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Бизнес-ориентированный профиль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600">
                <a:solidFill>
                  <a:srgbClr val="FFFFFF"/>
                </a:solidFill>
              </a:defRPr>
            </a:pPr>
            <a:r>
              <a:t>Тема ВКР: Платформа интернет-магазина в Telegram (Mini App и админ-панель)</a:t>
            </a:r>
          </a:p>
          <a:p>
            <a:pPr algn="ctr">
              <a:defRPr sz="1600">
                <a:solidFill>
                  <a:srgbClr val="FFFFFF"/>
                </a:solidFill>
              </a:defRPr>
            </a:pP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ФИО обучающегося: _________________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ФИО руководителя ВКР: _________________</a:t>
            </a:r>
          </a:p>
          <a:p>
            <a:pPr algn="ctr">
              <a:defRPr sz="1400">
                <a:solidFill>
                  <a:srgbClr val="FFFFFF"/>
                </a:solidFill>
              </a:defRPr>
            </a:pPr>
            <a:r>
              <a:t>Дата предзащиты: 16.02–06.03.2026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C3E50"/>
                </a:solidFill>
              </a:defRPr>
            </a:pPr>
            <a:r>
              <a:t>Предметная область и проблемная зона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3840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3E50"/>
                </a:solidFill>
              </a:defRPr>
            </a:pPr>
            <a:r>
              <a:t>Предметная область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Розничная электронная коммерция (e-commerce) в мессенджере Telegram.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Подсистемы: Mini App (Flutter Web), Backend API (FastAPI), админ-панель (Flutter Web), интеграции (YooKassa, Telegram Bot).</a:t>
            </a:r>
          </a:p>
          <a:p>
            <a:pPr>
              <a:defRPr sz="1100">
                <a:solidFill>
                  <a:srgbClr val="2C3E50"/>
                </a:solidFill>
              </a:defRPr>
            </a:pPr>
          </a:p>
          <a:p>
            <a:pPr>
              <a:defRPr sz="1100" b="1">
                <a:solidFill>
                  <a:srgbClr val="2C3E50"/>
                </a:solidFill>
              </a:defRPr>
            </a:pPr>
            <a:r>
              <a:t>Проблемная зона (до внедрения)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Ручной приём заказов (телефон, переписка), ошибки и задержки.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• Нет единого каталога, онлайн-оплаты и аналитики в реальном времени.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389120" y="1463040"/>
          <a:ext cx="420624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080"/>
                <a:gridCol w="1402080"/>
                <a:gridCol w="1402080"/>
              </a:tblGrid>
              <a:tr h="502920"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Этап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До внедрения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000"/>
                      </a:pPr>
                      <a:r>
                        <a:t>После внедрения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Вход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Заявки по телефону, переписка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Каталог в Mini App, форма заказа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Обработка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Ручная фиксация заказа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API, БД, автоматический учёт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Выход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Таблицы, разрозненные системы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Заказы в админке, уведомления в Telegram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Подробно: Пояснительная записка, Введение, гл. 1.1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C3E50"/>
                </a:solidFill>
              </a:defRPr>
            </a:pPr>
            <a:r>
              <a:t>Цель и постановка задач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2C3E50"/>
                </a:solidFill>
              </a:defRPr>
            </a:pPr>
            <a:r>
              <a:t>Цель работы</a:t>
            </a:r>
          </a:p>
          <a:p>
            <a:pPr>
              <a:defRPr sz="1200">
                <a:solidFill>
                  <a:srgbClr val="2C3E50"/>
                </a:solidFill>
              </a:defRPr>
            </a:pPr>
            <a:r>
              <a:t>Разработка программной платформы интернет-магазина в Telegram с Mini App для покупателей и веб-админ-панелью для владельца бизнеса, включая каталог, корзину, оформление заказа, онлайн-оплату (YooKassa), промокоды и программу лояльности.</a:t>
            </a:r>
          </a:p>
          <a:p/>
          <a:p>
            <a:pPr>
              <a:defRPr b="1" sz="1400">
                <a:solidFill>
                  <a:srgbClr val="2C3E50"/>
                </a:solidFill>
              </a:defRPr>
            </a:pPr>
            <a:r>
              <a:t>Задачи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1. Спроектировать архитектуру: Mini App, Backend API, админ-панель, БД и интеграции.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2. Реализовать каталог товаров с категориями и фильтрами; корзину и оформление заказа.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3. Интегрировать приём онлайн-оплаты (YooKassa) и уведомления в Telegram.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4. Реализовать админ-панель: товары, категории, заказы, промокоды, аналитика.</a:t>
            </a:r>
          </a:p>
          <a:p>
            <a:pPr>
              <a:defRPr sz="1100">
                <a:solidFill>
                  <a:srgbClr val="2C3E50"/>
                </a:solidFill>
              </a:defRPr>
            </a:pPr>
            <a:r>
              <a:t>5. Реализовать программу лояльности и многобизнесовую модель (несколько магазинов на одной платформе).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1.1–1.2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C3E50"/>
                </a:solidFill>
              </a:defRPr>
            </a:pPr>
            <a:r>
              <a:t>Актуальность и сравнение с аналогами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  <a:gridCol w="2103120"/>
              </a:tblGrid>
              <a:tr h="496388"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Критерий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Разрабатываемый ПП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Конструкторы ботов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E-commerce + виджет TG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Каталог в Mini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Ограничен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Через сайт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Корзина и заказ в TG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Зависит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Вне Telegram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Онлайн-оплата (YooKassa)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По тарифу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Админ-панель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Промокоды и лояльность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Не всегда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Часто да</a:t>
                      </a:r>
                    </a:p>
                  </a:txBody>
                  <a:tcPr/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Мультибизнес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Не всегда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Отдельные проекты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93776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C3E50"/>
                </a:solidFill>
              </a:defRPr>
            </a:pPr>
            <a:r>
              <a:t>Вывод: самостоятельная разработка даёт полный набор функций в одном продукте, многобизнесовую модель и контроль над развитием без зависимости от тарифов конструкторов. Подробно: ПЗ, гл. 1.3–1.4.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1.3, 1.4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C3E50"/>
                </a:solidFill>
              </a:defRPr>
            </a:pPr>
            <a:r>
              <a:t>Требования к разработке: роли и функции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65760" y="1280160"/>
          <a:ext cx="8412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4206240"/>
              </a:tblGrid>
              <a:tr h="731520">
                <a:tc>
                  <a:txBody>
                    <a:bodyPr wrap="square"/>
                    <a:lstStyle/>
                    <a:p>
                      <a:pPr>
                        <a:defRPr sz="1000" b="1"/>
                      </a:pPr>
                      <a:r>
                        <a:t>Роль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 b="1"/>
                      </a:pPr>
                      <a:r>
                        <a:t>Функции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Покупатель (Mini App)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Просмотр каталога и карточки товара; корзина; оформление заказа (имя, телефон, адрес); оплата онлайн/при получении; история заказов; программа лояльности; настройки (язык, тема).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Администратор (админ-панель)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1000"/>
                      </a:pPr>
                      <a:r>
                        <a:t>Вход (логин/пароль); управление товарами и категориями; приём и смена статусов заказов; управление промокодами; просмотр аналитики; настройки бизнеса.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0350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1.2, таблица распределения задач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Функциональная схема программного продукта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926080" y="822960"/>
            <a:ext cx="3291840" cy="54864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Платформа Telegram Mini App Store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19456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Покупатель (Mini App)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Каталог, карточка товара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670048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Корзина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054096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Оформление заказа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38144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Оплата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822191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История заказов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206240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Лояльность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4590288"/>
            <a:ext cx="201168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Настройки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1737360"/>
            <a:ext cx="256032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 b="1">
                <a:solidFill>
                  <a:srgbClr val="FFFFFF"/>
                </a:solidFill>
              </a:defRPr>
            </a:pPr>
            <a:r>
              <a:t>Администратор (админ-панель)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2286000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Вход (аутентификация)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937760" y="2670048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Товары и категории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3054096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Заказы (статусы)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37760" y="3438144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Промокоды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822191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Аналитика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37760" y="4206240"/>
            <a:ext cx="2377440" cy="329184"/>
          </a:xfrm>
          <a:prstGeom prst="roundRect">
            <a:avLst/>
          </a:prstGeom>
          <a:noFill/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900"/>
            </a:pPr>
            <a:r>
              <a:t>Настройки</a:t>
            </a:r>
          </a:p>
        </p:txBody>
      </p:sp>
      <p:cxnSp>
        <p:nvCxnSpPr>
          <p:cNvPr id="19" name="Connector 18"/>
          <p:cNvCxnSpPr/>
          <p:nvPr/>
        </p:nvCxnSpPr>
        <p:spPr>
          <a:xfrm flipH="1">
            <a:off x="2011680" y="1371600"/>
            <a:ext cx="2560320" cy="36576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572000" y="1371600"/>
            <a:ext cx="731520" cy="36576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57200" y="5943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1.2, табл.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Описание входных данных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92608"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Логическое название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Физическое название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Тип данных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Размер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Ограничения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Логин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username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255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Пароль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password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255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Имя заказчика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customer_name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200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Телефон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customer_phone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20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Обязательное, формат телефона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Адрес доставки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customer_address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500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При доставке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Код промокода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code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50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Уникальный в рамках бизнеса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Скидка (%)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discount_value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Вещественное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0–100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При типе «процент»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Название товара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Строка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до 255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Цена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price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Вещественное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≥ 0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Обязательное, 2 знака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i="1">
                <a:solidFill>
                  <a:srgbClr val="3498DB"/>
                </a:solidFill>
              </a:defRPr>
            </a:pPr>
            <a:r>
              <a:t>Источники: login_screen (username, password); checkout_screen (customer_*); promocode_form (code, discount_*); products (name, price). ПЗ, гл. 2–3.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Платформы и технологии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470262"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Вид приложения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Платформа/Версия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Технологии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Библиотеки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Обоснование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Mini App (Web)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Flutter 3.x / Dart 3.9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Flutter Web, BLoC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dio, go_router, hive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Кроссплатформа, один код для Mini App и админки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Админ-панель (Web)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Flutter 3.x / Dart 3.9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Flutter Web, BLoC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Firebase Auth, dio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Единый стек с Mini App, быстрый UI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Серверное API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Python 3.11+, FastAPI 0.109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REST API, async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SQLAlchemy 2, asyncpg, Pydantic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Асинхронность, валидация, документация OpenAPI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БД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PostgreSQL 15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Реляционная СУБД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Alembic (миграции)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Надёжность, транзакции</a:t>
                      </a:r>
                    </a:p>
                  </a:txBody>
                  <a:tcPr/>
                </a:tc>
              </a:tr>
              <a:tr h="470262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Кэш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Redis 7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Кэширование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redis, hiredis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Ускорение ответов API</a:t>
                      </a:r>
                    </a:p>
                  </a:txBody>
                  <a:tcPr/>
                </a:tc>
              </a:tr>
              <a:tr h="470268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Интеграции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Платежи, уведомления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httpx, python-telegram-bot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YooKassa, Telegram Bot API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2 (проектирование), раздел по технологиям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Архитектура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/>
            </a:pPr>
            <a:r>
              <a:t>Mini App и админ-панель обращаются к Backend API по REST; API работает с PostgreSQL и Redis; интеграции: YooKassa (оплата), Telegram Bot (уведомления), при необходимости — DaData (адреса), Яндекс.Доставка.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63040"/>
            <a:ext cx="3657600" cy="1097280"/>
          </a:xfrm>
          <a:prstGeom prst="roundRect">
            <a:avLst/>
          </a:prstGeom>
          <a:solidFill>
            <a:srgbClr val="4A90E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Frontend</a:t>
            </a:r>
          </a:p>
          <a:p>
            <a:r>
              <a:t>Mini App (Flutter Web)</a:t>
            </a:r>
          </a:p>
          <a:p>
            <a:r>
              <a:t>Admin Panel (Flutter Web)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26080" y="2743200"/>
            <a:ext cx="2377440" cy="731520"/>
          </a:xfrm>
          <a:prstGeom prst="roundRect">
            <a:avLst/>
          </a:prstGeom>
          <a:solidFill>
            <a:srgbClr val="27AE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>
                <a:solidFill>
                  <a:srgbClr val="FFFFFF"/>
                </a:solidFill>
              </a:defRPr>
            </a:pPr>
            <a:r>
              <a:t>Backend: REST API (FastAPI)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657600"/>
            <a:ext cx="2377440" cy="914400"/>
          </a:xfrm>
          <a:prstGeom prst="roundRect">
            <a:avLst/>
          </a:prstGeom>
          <a:solidFill>
            <a:srgbClr val="F39C1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PostgreSQL</a:t>
            </a:r>
          </a:p>
          <a:p>
            <a:r>
              <a:t>Redis (кэш)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2926080"/>
            <a:ext cx="3108960" cy="1280160"/>
          </a:xfrm>
          <a:prstGeom prst="roundRect">
            <a:avLst/>
          </a:prstGeom>
          <a:solidFill>
            <a:srgbClr val="9B59B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000">
                <a:solidFill>
                  <a:srgbClr val="FFFFFF"/>
                </a:solidFill>
              </a:defRPr>
            </a:pPr>
            <a:r>
              <a:t>Интеграции:</a:t>
            </a:r>
          </a:p>
          <a:p>
            <a:r>
              <a:t>YooKassa, Telegram Bot API</a:t>
            </a:r>
          </a:p>
          <a:p>
            <a:r>
              <a:t>DaData, Яндекс.Доставка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286000" y="2011680"/>
            <a:ext cx="640080" cy="109728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474720"/>
            <a:ext cx="0" cy="18288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03520" y="3474720"/>
            <a:ext cx="182880" cy="91440"/>
          </a:xfrm>
          <a:prstGeom prst="line">
            <a:avLst/>
          </a:prstGeom>
          <a:ln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Диаграмма: presentation_diagrams/slide_04_architecture.mmd. ПЗ, гл. 2.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Структурная схема проекта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11480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Consolas"/>
              </a:defRPr>
            </a:pPr>
            <a:r>
              <a:t>frontend/lib/</a:t>
            </a:r>
          </a:p>
          <a:p>
            <a:pPr>
              <a:defRPr sz="800">
                <a:latin typeface="Consolas"/>
              </a:defRPr>
            </a:pPr>
            <a:r>
              <a:t>  main.dart, mini_app/main.dart, admin_panel/main.dart</a:t>
            </a:r>
          </a:p>
          <a:p>
            <a:pPr>
              <a:defRPr sz="800">
                <a:latin typeface="Consolas"/>
              </a:defRPr>
            </a:pPr>
            <a:r>
              <a:t>  mini_app/ — presentation (screens, bloc, widgets), data, domain</a:t>
            </a:r>
          </a:p>
          <a:p>
            <a:pPr>
              <a:defRPr sz="800">
                <a:latin typeface="Consolas"/>
              </a:defRPr>
            </a:pPr>
            <a:r>
              <a:t>  admin_panel/ — presentation (screens), data, application (bloc)</a:t>
            </a:r>
          </a:p>
          <a:p>
            <a:pPr>
              <a:defRPr sz="800">
                <a:latin typeface="Consolas"/>
              </a:defRPr>
            </a:pPr>
            <a:r>
              <a:t>  core/ — network, theme, config, services</a:t>
            </a:r>
          </a:p>
          <a:p>
            <a:pPr>
              <a:defRPr sz="800">
                <a:latin typeface="Consolas"/>
              </a:defRPr>
            </a:pPr>
            <a:r>
              <a:t>backend/app/</a:t>
            </a:r>
          </a:p>
          <a:p>
            <a:pPr>
              <a:defRPr sz="800">
                <a:latin typeface="Consolas"/>
              </a:defRPr>
            </a:pPr>
            <a:r>
              <a:t>  main.py — точка входа FastAPI</a:t>
            </a:r>
          </a:p>
          <a:p>
            <a:pPr>
              <a:defRPr sz="800">
                <a:latin typeface="Consolas"/>
              </a:defRPr>
            </a:pPr>
            <a:r>
              <a:t>  api/v1/ — admin, businesses, products, orders, categories, payments, promocodes, loyalty, analytics</a:t>
            </a:r>
          </a:p>
          <a:p>
            <a:pPr>
              <a:defRPr sz="800">
                <a:latin typeface="Consolas"/>
              </a:defRPr>
            </a:pPr>
            <a:r>
              <a:t>  models/ — business, product, order, category, payment, promocode, loyalty</a:t>
            </a:r>
          </a:p>
          <a:p>
            <a:pPr>
              <a:defRPr sz="800">
                <a:latin typeface="Consolas"/>
              </a:defRPr>
            </a:pPr>
            <a:r>
              <a:t>  services/ — order_service, product_service, payment_service, loyalty_service, ...</a:t>
            </a:r>
          </a:p>
          <a:p>
            <a:pPr>
              <a:defRPr sz="800">
                <a:latin typeface="Consolas"/>
              </a:defRPr>
            </a:pPr>
            <a:r>
              <a:t>  database.py, config.py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0" y="1097280"/>
          <a:ext cx="402336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</a:tblGrid>
              <a:tr h="320040"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Название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 b="1"/>
                      </a:pPr>
                      <a:r>
                        <a:t>Описание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main.dart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Точка входа Flutter, выбор Mini App / Admin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mini_app/main.dart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Точка входа Mini App (каталог, корзина, заказ)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admin_panel/main.dart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Точка входа админ-панели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app/main.py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FastAPI-приложение, роутеры API v1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api/v1/*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Эндпоинты: товары, заказы, категории, платежи, промокоды, лояльность, аналитика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models/*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Модели SQLAlchemy: Order, Product, Business, Category, Payment, Promocode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services/*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>
                        <a:defRPr sz="800"/>
                      </a:pPr>
                      <a:r>
                        <a:t>Бизнес-логика: OrderService, PaymentService, LoyaltyService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749039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i="1">
                <a:solidFill>
                  <a:srgbClr val="3498DB"/>
                </a:solidFill>
              </a:defRPr>
            </a:pPr>
            <a:r>
              <a:t>Пояснительная записка, гл. 2, структурная схема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2C3E50"/>
                </a:solidFill>
              </a:defRPr>
            </a:pPr>
            <a:r>
              <a:t>Демонстрация программного продукта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2C3E50"/>
                </a:solidFill>
              </a:defRPr>
            </a:pPr>
            <a:r>
              <a:t>Ключевые функции для демонстрации (в соответствии с функциональными задачами ВКР):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• Mini App: каталог товаров, фильтр по категории/цене → корзина → оформление заказа (имя, телефон, адрес) → выбор способа оплаты (онлайн / при получении) → история заказов, программа лояльности.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• Админ-панель: вход по логину/паролю → управление товарами и категориями → приём заказов и смена статусов → промокоды → аналитика.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• Рекомендуется подготовить короткие видео (1–2 мин) для Mini App и для админ-панели при разных ролях.</a:t>
            </a:r>
          </a:p>
          <a:p>
            <a:pPr>
              <a:defRPr sz="1000">
                <a:solidFill>
                  <a:srgbClr val="2C3E50"/>
                </a:solidFill>
              </a:defRPr>
            </a:pP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Ссылки на пояснительную записку: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• Введение, Глава 1 (аналитическая часть) — предметная область, целевой рынок, аналоги, обоснование разработки.</a:t>
            </a:r>
          </a:p>
          <a:p>
            <a:pPr>
              <a:defRPr sz="1000">
                <a:solidFill>
                  <a:srgbClr val="2C3E50"/>
                </a:solidFill>
              </a:defRPr>
            </a:pPr>
            <a:r>
              <a:t>• Подробные таблицы входных данных, платформ и технологий, архитектуры — в соответствующих разделах гл. 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3498DB"/>
                </a:solidFill>
              </a:defRPr>
            </a:pPr>
            <a:r>
              <a:t>Пояснительная записка: docs/Глава_01_Аналитическая_часть.docx (и полная ПЗ по мере готовности).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